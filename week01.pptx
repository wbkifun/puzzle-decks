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[시간 배분] 워밍업 10분 → 무대 설정 5분 → 문제1 10분 → 문제2 토론 25분 → 문제3 토론 20분 → 문제4 10분 → 개념 연결·일지·과제 10분</a:t>
            </a:r>
          </a:p>
          <a:p>
            <a:r>
              <a:t>[오늘의 목표 개념] 가정과 모순(귀류법), 진술의 부정, 자기지시</a:t>
            </a:r>
          </a:p>
          <a:p>
            <a:r>
              <a:t>개념 이름(귀류법)은 반드시 수업 '마지막'에 붙여줄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즉답을 유도해서 직관을 수집한다 (5명 전원 답 받기).</a:t>
            </a:r>
          </a:p>
          <a:p>
            <a:r>
              <a:t>흔한 오답: 1등.</a:t>
            </a:r>
          </a:p>
          <a:p>
            <a:r>
              <a:t>발문: "2등을 추월하면 그 사람의 등수를 뺏는 걸까?"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오답: 90분 (3 × 30분이라는 자동 계산).</a:t>
            </a:r>
          </a:p>
          <a:p>
            <a:r>
              <a:t>발문: "첫 번째 알약은 언제 먹지?"</a:t>
            </a:r>
          </a:p>
          <a:p>
            <a:r>
              <a:t>워밍업 공통 멘트: "오늘도 머릿속 자동 계산기를 의심하는 것부터 시작!"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회상 질문: "예전에 풀었던 사형수 문제 기억나? 사형수가 뭐라고 말해서 풀려났지?" — 오늘 이 섬이 그 문제와 깊은 관련이 있다고 예고만 하고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몸풀기 문제 (10분).</a:t>
            </a:r>
          </a:p>
          <a:p>
            <a:r>
              <a:t>발문: "건달이 '아니오'라고 답하면 무슨 일이 벌어지지?"</a:t>
            </a:r>
          </a:p>
          <a:p>
            <a:r>
              <a:t>후속: "그럼 한 번의 질문으로 기사/건달을 구별하려면 어떤 질문이 필요할까?"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메인 토론 (25분). 침묵의 10분 → 토론.</a:t>
            </a:r>
          </a:p>
          <a:p>
            <a:r>
              <a:t>[흔한 막힘] "건달 A가 '우리 둘 다 건달'이라고 말해도 되나? 자기는 진짜 건달인데?"</a:t>
            </a:r>
          </a:p>
          <a:p>
            <a:r>
              <a:t>→ 거짓말의 기준은 문장 '전체'. B가 기사이므로 문장 전체가 거짓 → 건달이 말할 수 있음.</a:t>
            </a:r>
          </a:p>
          <a:p>
            <a:r>
              <a:t>발문: "A의 말이 거짓이라는 건 정확히 '무엇'이 거짓이라는 뜻일까?"</a:t>
            </a:r>
          </a:p>
          <a:p>
            <a:r>
              <a:t>"'둘 다 건달'의 반대는 '둘 다 기사'일까?" (부정 개념 — 다음 주 예고)</a:t>
            </a:r>
          </a:p>
          <a:p>
            <a:r>
              <a:t>"B는 한마디도 안 했는데 어떻게 정체가 밝혀졌지?"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메인 확장 (20분).</a:t>
            </a:r>
          </a:p>
          <a:p>
            <a:r>
              <a:t>발문: "왜 C부터 가정하는 게 편할까? A부터 시작하면 어떻게 되지?" (어느 쪽이든 답은 같다 — 직접 해보게)</a:t>
            </a:r>
          </a:p>
          <a:p>
            <a:r>
              <a:t>"가정 → 모순 → 가정 폐기. 이 패턴을 오늘 몇 번 썼지?"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역설 연결 (10분).</a:t>
            </a:r>
          </a:p>
          <a:p>
            <a:r>
              <a:t>발문: "사형수의 한 문장과 어디가 똑같은 구조지?"</a:t>
            </a:r>
          </a:p>
          <a:p>
            <a:r>
              <a:t>"'모든 주민은 기사 아니면 건달'이라는 전제가 무너지면 무슨 일이 생기지?" (숨은 전제의 중요성 — 7주차 예고)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덧붙임: 거꾸로 "1+1=2입니까?"처럼 내가 사실을 아는 질문이면 한 번에 구별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라벨은 학생들이 스스로 패턴을 말한 '뒤에' 붙여줄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아직 제곱근을 안 배웠으면 '제곱해서 2가 되는 수'로만 소개 (한 변이 1인 정사각형의 대각선 길이라고 그림으로 보여줘도 좋음).</a:t>
            </a:r>
          </a:p>
          <a:p>
            <a:r>
              <a:t>단계마다 멈추고 '왜?'를 묻기. 특히 "a²이 짝수면 왜 a도 짝수지?" → 이것 자체가 귀류법 미니 연습: a가 홀수라면 a²도 홀수 → 모순!</a:t>
            </a:r>
          </a:p>
          <a:p>
            <a:r>
              <a:t>포인트: '더는 약분할 수 없는'이라는 가정이 모순의 표적이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작은 예로 체험시키기: 소수가 2, 3, 5뿐이라고 가정 → 2×3×5+1 = 31 → 31은 2, 3, 5 어느 것으로도 안 나누어짐 → 새 소수 등장!</a:t>
            </a:r>
          </a:p>
          <a:p>
            <a:r>
              <a:t>[흔한 오해 주의] N 자신이 항상 소수인 것은 아니다. 예: 2×3×5×7×11×13+1 = 30031 = 59×509. 핵심은 N이 소수든 아니든 N의 소인수가 목록 밖에 있다는 것.</a:t>
            </a:r>
          </a:p>
          <a:p>
            <a:r>
              <a:t>발문: "+1이 왜 이 증명의 심장일까? +2면 안 될까?" (홀짝 따져보게 하기)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난이도: (1) 쉬움 → (2) 중간 → (3) 경우 나누기 필요. 각자 고르게 한 뒤 발표.</a:t>
            </a:r>
          </a:p>
          <a:p>
            <a:r>
              <a:t>(1) 가장 큰 자연수 N이 있다고 가정 → N+1은 더 큰 자연수 → 모순.</a:t>
            </a:r>
          </a:p>
          <a:p>
            <a:r>
              <a:t>(2) 모두 15만원 미만(14만원 이하)이라고 가정 → 합이 최대 70만원 &lt; 71만원 → 모순. (4주차 비둘기집 원리의 예고편)</a:t>
            </a:r>
          </a:p>
          <a:p>
            <a:r>
              <a:t>(3) 끝자리가 2인 제곱수가 있다고 가정 → 제곱수의 끝자리는 원래 수의 '끝자리'만으로 결정됨 → 0~9를 제곱한 끝자리는 0,1,4,9,6,5뿐 → 2는 없다 → 모순. (모든 경우 검사 — 다음 주 진리표 예고)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주 워밍업에서 1~2명 발표. 회의론자가 유일성 검증. '표로 검사'가 다음 주 주제(진리표)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'~이거나(또는)'는 둘 중 하나만 참이어도 문장 전체가 참 — 이 약속을 먼저 합의하고 시작.</a:t>
            </a:r>
          </a:p>
          <a:p>
            <a:r>
              <a:t>학생들이 스스로 네 경우를 나눠 보게 한 뒤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경우 3, 4가 포인트: A가 건달이면 "나는 건달" 부분이 '참'이 되므로 '또는' 문장 전체가 참 → 건달이 참을 말한 셈 → 탈락.</a:t>
            </a:r>
          </a:p>
          <a:p>
            <a:r>
              <a:t>경우 2: A가 기사면 "나는 건달"이 거짓, "B는 기사"도 거짓 → 전체 거짓 → 탈락.</a:t>
            </a:r>
          </a:p>
          <a:p>
            <a:r>
              <a:t>발문: "한 문장인데 왜 답이 하나로 좁혀질까?" → '또는'이 네 경우를 서로 다르게 갈라놓기 때문. 다음 주(부정·드모르간·진리표)와 직결.</a:t>
            </a:r>
          </a:p>
          <a:p>
            <a:r>
              <a:t>학생들의 자작 과제도 이 표 형식으로 검증하게 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수업 1주차) 기사와 건달의 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워밍업 2문제 + 본 문제 4문제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1) 달리기 경주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마라톤 대회, 결승선 직전.</a:t>
            </a:r>
          </a:p>
          <a:p/>
          <a:p>
            <a:r>
              <a:rPr sz="2000"/>
              <a:t>당신은 마지막 스퍼트를 올려</a:t>
            </a:r>
          </a:p>
          <a:p>
            <a:r>
              <a:rPr sz="2000"/>
              <a:t>2등으로 달리던 선수를 극적으로 추월했다!</a:t>
            </a:r>
          </a:p>
          <a:p/>
          <a:p>
            <a:r>
              <a:rPr sz="2000"/>
              <a:t>지금 당신은 몇 등인가?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2) 세 개의 알약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몸이 아파 병원에 갔더니 의사가 알약 3개를 주었다.</a:t>
            </a:r>
          </a:p>
          <a:p/>
          <a:p>
            <a:r>
              <a:rPr sz="2000"/>
              <a:t>"지금부터 30분 간격으로 1개씩 드세요."</a:t>
            </a:r>
          </a:p>
          <a:p/>
          <a:p>
            <a:r>
              <a:rPr sz="2000"/>
              <a:t>알약을 모두 먹는 데 걸리는 시간은?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무대 설정) 기사와 건달의 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어느 외딴 섬에는 두 부족만 산다.</a:t>
            </a:r>
          </a:p>
          <a:p/>
          <a:p>
            <a:r>
              <a:rPr sz="2000"/>
              <a:t>- 기사: 무슨 말을 하든 항상 진실만 말한다.</a:t>
            </a:r>
          </a:p>
          <a:p>
            <a:r>
              <a:rPr sz="2000"/>
              <a:t>- 건달: 무슨 말을 하든 항상 거짓만 말한다.</a:t>
            </a:r>
          </a:p>
          <a:p/>
          <a:p>
            <a:r>
              <a:rPr sz="2000"/>
              <a:t>겉모습으로는 절대 구별할 수 없다.</a:t>
            </a:r>
          </a:p>
          <a:p>
            <a:r>
              <a:rPr sz="2000"/>
              <a:t>오직 그들의 '말'로만 추리할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1) 쓸모없는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섬에 도착한 당신은 주민 한 명을 만났다.</a:t>
            </a:r>
          </a:p>
          <a:p/>
          <a:p>
            <a:r>
              <a:rPr sz="2000"/>
              <a:t>"당신은 기사입니까?"라고 물었다.</a:t>
            </a:r>
          </a:p>
          <a:p/>
          <a:p>
            <a:r>
              <a:rPr sz="2000"/>
              <a:t>그는 뭐라고 답할까?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2) 둘 다 건달이라고?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주민 A와 B를 만났다. A가 말했다.</a:t>
            </a:r>
          </a:p>
          <a:p/>
          <a:p>
            <a:r>
              <a:rPr sz="2000"/>
              <a:t>"우리는 둘 다 건달입니다."</a:t>
            </a:r>
          </a:p>
          <a:p/>
          <a:p>
            <a:r>
              <a:rPr sz="2000"/>
              <a:t>A와 B는 각각 기사일까, 건달일까?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3) 세 주민의 진술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주민 A, B, C를 만났다.</a:t>
            </a:r>
          </a:p>
          <a:p/>
          <a:p>
            <a:r>
              <a:rPr sz="2000"/>
              <a:t>A: "B는 건달입니다."</a:t>
            </a:r>
          </a:p>
          <a:p>
            <a:r>
              <a:rPr sz="2000"/>
              <a:t>B: "C는 건달입니다."</a:t>
            </a:r>
          </a:p>
          <a:p>
            <a:r>
              <a:rPr sz="2000"/>
              <a:t>C: "A와 B는 둘 다 건달입니다."</a:t>
            </a:r>
          </a:p>
          <a:p/>
          <a:p>
            <a:r>
              <a:rPr sz="2000"/>
              <a:t>세 사람의 정체를 모두 밝혀라.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4) 말할 수 없는 문장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이 섬의 주민 중에</a:t>
            </a:r>
          </a:p>
          <a:p/>
          <a:p>
            <a:r>
              <a:rPr sz="2000"/>
              <a:t>"나는 건달입니다"</a:t>
            </a:r>
          </a:p>
          <a:p/>
          <a:p>
            <a:r>
              <a:rPr sz="2000"/>
              <a:t>라고 말할 수 있는 사람이 있을까?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풀이 1) 달리기 경주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답: 여전히 2등.</a:t>
            </a:r>
          </a:p>
          <a:p/>
          <a:p>
            <a:r>
              <a:rPr sz="2000"/>
              <a:t>2등을 추월하면 내가 '그 자리'에 들어간다.</a:t>
            </a:r>
          </a:p>
          <a:p>
            <a:r>
              <a:rPr sz="2000"/>
              <a:t>1등이 되려면 1등을 추월해야 한다.</a:t>
            </a:r>
          </a:p>
          <a:p/>
          <a:p>
            <a:r>
              <a:rPr sz="2000"/>
              <a:t>함정: '추월 = 한 계단 위로'라는 자동 연상.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풀이 2) 세 개의 알약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답: 1시간 (60분).</a:t>
            </a:r>
          </a:p>
          <a:p/>
          <a:p>
            <a:r>
              <a:rPr sz="2000"/>
              <a:t>지금 1개 (0분) → 30분 후 1개 → 60분 후 1개.</a:t>
            </a:r>
          </a:p>
          <a:p/>
          <a:p>
            <a:r>
              <a:rPr sz="2000"/>
              <a:t>함정: 3 × 30 = 90분이라는 자동 계산.</a:t>
            </a:r>
          </a:p>
          <a:p>
            <a:r>
              <a:rPr sz="2000"/>
              <a:t>'간격'은 알약 개수보다 1개 적다.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1) 쓸모없는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누구든 무조건 "예"라고 답한다.</a:t>
            </a:r>
          </a:p>
          <a:p/>
          <a:p>
            <a:r>
              <a:rPr sz="2000"/>
              <a:t>- 기사: 진실이므로 "예"</a:t>
            </a:r>
          </a:p>
          <a:p>
            <a:r>
              <a:rPr sz="2000"/>
              <a:t>- 건달: 진실은 "아니오" → 거짓말로 "예"</a:t>
            </a:r>
          </a:p>
          <a:p/>
          <a:p>
            <a:r>
              <a:rPr sz="2000"/>
              <a:t>답을 들어도 아무 정보가 없는 질문이 존재한다!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2) 둘 다 건달이라고?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1) A가 기사라고 가정해 보자.</a:t>
            </a:r>
          </a:p>
          <a:p>
            <a:r>
              <a:rPr sz="2000"/>
              <a:t>   → "둘 다 건달"이 참 → A도 건달 → 모순!</a:t>
            </a:r>
          </a:p>
          <a:p>
            <a:r>
              <a:rPr sz="2000"/>
              <a:t>   → 가정이 틀렸다. A는 건달.</a:t>
            </a:r>
          </a:p>
          <a:p/>
          <a:p>
            <a:r>
              <a:rPr sz="2000"/>
              <a:t>2) 건달 A의 말은 거짓이다.</a:t>
            </a:r>
          </a:p>
          <a:p>
            <a:r>
              <a:rPr sz="2000"/>
              <a:t>   "둘 다 건달"이 거짓 = 적어도 한 명은 기사.</a:t>
            </a:r>
          </a:p>
          <a:p>
            <a:r>
              <a:rPr sz="2000"/>
              <a:t>   A가 건달이므로 → B가 기사.</a:t>
            </a:r>
          </a:p>
          <a:p/>
          <a:p>
            <a:r>
              <a:rPr sz="2000"/>
              <a:t>답: A는 건달, B는 기사.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3) 세 주민의 진술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1) C가 기사라고 가정 → A, B 둘 다 건달.</a:t>
            </a:r>
          </a:p>
          <a:p>
            <a:r>
              <a:rPr sz="2000"/>
              <a:t>   그러면 건달 A의 말 "B는 건달"이 참 → 모순!</a:t>
            </a:r>
          </a:p>
          <a:p>
            <a:r>
              <a:rPr sz="2000"/>
              <a:t>   → C는 건달.</a:t>
            </a:r>
          </a:p>
          <a:p>
            <a:r>
              <a:rPr sz="2000"/>
              <a:t>2) "A, B 둘 다 건달"은 거짓 → 적어도 한 명은 기사.</a:t>
            </a:r>
          </a:p>
          <a:p>
            <a:r>
              <a:rPr sz="2000"/>
              <a:t>3) B의 말 "C는 건달"은 실제로 참 → B는 기사.</a:t>
            </a:r>
          </a:p>
          <a:p>
            <a:r>
              <a:rPr sz="2000"/>
              <a:t>4) A의 말 "B는 건달"은 거짓 → A는 건달.</a:t>
            </a:r>
          </a:p>
          <a:p/>
          <a:p>
            <a:r>
              <a:rPr sz="2000"/>
              <a:t>답: A 건달, B 기사, C 건달.  (검증: 세 진술 모두 일관 ✓)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4) 말할 수 없는 문장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답: 주민 중에는 아무도 없다.</a:t>
            </a:r>
          </a:p>
          <a:p/>
          <a:p>
            <a:r>
              <a:rPr sz="2000"/>
              <a:t>- 기사가 말하면: 거짓을 말한 셈 → 모순</a:t>
            </a:r>
          </a:p>
          <a:p>
            <a:r>
              <a:rPr sz="2000"/>
              <a:t>- 건달이 말하면: 진실을 말한 셈 → 모순</a:t>
            </a:r>
          </a:p>
          <a:p/>
          <a:p>
            <a:r>
              <a:rPr sz="2000"/>
              <a:t>반전: 만약 '관광객'(기사도 건달도 아닌 사람)이 있다면?</a:t>
            </a:r>
          </a:p>
          <a:p>
            <a:r>
              <a:rPr sz="2000"/>
              <a:t>→ 관광객은 말할 수 있다!</a:t>
            </a:r>
          </a:p>
          <a:p>
            <a:r>
              <a:rPr sz="2000"/>
              <a:t>→ 이 말을 들으면 "주민이 아니구나"를 즉시 알 수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개념 연결) 오늘의 무기: 귀류법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오늘 우리가 반복해서 쓴 방법:</a:t>
            </a:r>
          </a:p>
          <a:p/>
          <a:p>
            <a:r>
              <a:rPr sz="2000"/>
              <a:t>"~라고 가정하자 → 모순! → 가정이 틀렸다"</a:t>
            </a:r>
          </a:p>
          <a:p/>
          <a:p>
            <a:r>
              <a:rPr sz="2000"/>
              <a:t>이름: 귀류법 (모순으로 되돌리는 방법)</a:t>
            </a:r>
          </a:p>
          <a:p/>
          <a:p>
            <a:r>
              <a:rPr sz="2000"/>
              <a:t>수학자들이 가장 사랑하는 증명 도구.</a:t>
            </a:r>
          </a:p>
          <a:p>
            <a:r>
              <a:rPr sz="2000"/>
              <a:t>"√2는 분수로 쓸 수 없다", "소수는 무한히 많다"가</a:t>
            </a:r>
          </a:p>
          <a:p>
            <a:r>
              <a:rPr sz="2000"/>
              <a:t>정확히 오늘 우리가 한 방식으로 증명된다.</a:t>
            </a:r>
          </a:p>
          <a:p>
            <a:r>
              <a:rPr sz="2000"/>
              <a:t>→ 지금 바로 확인해 보자!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증명 사례 1) √2는 분수로 쓸 수 없다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√2 = 제곱하면 정확히 2가 되는 양수</a:t>
            </a:r>
          </a:p>
          <a:p/>
          <a:p>
            <a:r>
              <a:rPr sz="2000"/>
              <a:t>가정: √2를 분수로 쓸 수 있다.</a:t>
            </a:r>
          </a:p>
          <a:p>
            <a:r>
              <a:rPr sz="2000"/>
              <a:t>→ √2 = a/b  (더는 약분할 수 없는 분수)</a:t>
            </a:r>
          </a:p>
          <a:p/>
          <a:p>
            <a:r>
              <a:rPr sz="2000"/>
              <a:t>양변을 제곱: 2 = a²/b²  →  a² = 2b²</a:t>
            </a:r>
          </a:p>
          <a:p>
            <a:r>
              <a:rPr sz="2000"/>
              <a:t>→ a²은 짝수 → a도 짝수 (홀수²은 홀수니까!) → a = 2k</a:t>
            </a:r>
          </a:p>
          <a:p>
            <a:r>
              <a:rPr sz="2000"/>
              <a:t>→ (2k)² = 2b²  →  4k² = 2b²  →  b² = 2k² → b도 짝수!</a:t>
            </a:r>
          </a:p>
          <a:p/>
          <a:p>
            <a:r>
              <a:rPr sz="2000"/>
              <a:t>a, b가 둘 다 짝수 → 더 약분할 수 있다 → 모순!</a:t>
            </a:r>
          </a:p>
          <a:p>
            <a:r>
              <a:rPr sz="2000"/>
              <a:t>따라서 √2는 분수로 쓸 수 없다. 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증명 사례 2) 소수는 무한히 많다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소수: 1과 자기 자신으로만 나누어지는 수 (2, 3, 5, 7, 11, …)</a:t>
            </a:r>
          </a:p>
          <a:p/>
          <a:p>
            <a:r>
              <a:rPr sz="2000"/>
              <a:t>가정: 소수가 유한 개뿐이다.</a:t>
            </a:r>
          </a:p>
          <a:p>
            <a:r>
              <a:rPr sz="2000"/>
              <a:t>→ 소수를 '전부' 모은 목록이 있다: p₁, p₂, …, pₙ</a:t>
            </a:r>
          </a:p>
          <a:p/>
          <a:p>
            <a:r>
              <a:rPr sz="2000"/>
              <a:t>새로운 수를 만든다:  N = (목록의 소수를 전부 곱한 수) + 1</a:t>
            </a:r>
          </a:p>
          <a:p>
            <a:r>
              <a:rPr sz="2000"/>
              <a:t>→ N을 목록의 어떤 소수로 나눠도 나머지가 1</a:t>
            </a:r>
          </a:p>
          <a:p>
            <a:r>
              <a:rPr sz="2000"/>
              <a:t>→ 그런데 N도 반드시 어떤 소수로 나누어떨어진다</a:t>
            </a:r>
          </a:p>
          <a:p>
            <a:r>
              <a:rPr sz="2000"/>
              <a:t>→ 그 소수는 목록에 없다 → "전부 모았다"와 모순!</a:t>
            </a:r>
          </a:p>
          <a:p/>
          <a:p>
            <a:r>
              <a:rPr sz="2000"/>
              <a:t>따라서 소수는 무한히 많다. ∎  (유클리드, 약 2300년 전)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직접 증명해 보기 — 귀류법 연습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각자 하나를 골라 "가정 → 모순" 증명을 만들어 보자.</a:t>
            </a:r>
          </a:p>
          <a:p/>
          <a:p>
            <a:r>
              <a:rPr sz="2000"/>
              <a:t>(1) 가장 큰 자연수는 존재하지 않는다.</a:t>
            </a:r>
          </a:p>
          <a:p/>
          <a:p>
            <a:r>
              <a:rPr sz="2000"/>
              <a:t>(2) 다섯 명이 받은 용돈의 합이 71만원이면,</a:t>
            </a:r>
          </a:p>
          <a:p>
            <a:r>
              <a:rPr sz="2000"/>
              <a:t>     적어도 한 명은 15만원 이상 받았다.</a:t>
            </a:r>
          </a:p>
          <a:p/>
          <a:p>
            <a:r>
              <a:rPr sz="2000"/>
              <a:t>(3) 어떤 자연수를 제곱해도,</a:t>
            </a:r>
          </a:p>
          <a:p>
            <a:r>
              <a:rPr sz="2000"/>
              <a:t>     끝자리가 2인 수는 절대 나오지 않는다.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주민 2명이 등장하고, 단 하나의 진술만으로</a:t>
            </a:r>
          </a:p>
          <a:p>
            <a:r>
              <a:rPr sz="2000"/>
              <a:t>두 사람의 정체가 '유일하게' 결정되는</a:t>
            </a:r>
          </a:p>
          <a:p>
            <a:r>
              <a:rPr sz="2000"/>
              <a:t>나만의 문제를 만들어 오기.</a:t>
            </a:r>
          </a:p>
          <a:p/>
          <a:p>
            <a:r>
              <a:rPr sz="2000"/>
              <a:t>조건: 답이 두 가지 이상 가능하면 출제 실패!</a:t>
            </a:r>
          </a:p>
          <a:p/>
          <a:p>
            <a:r>
              <a:rPr sz="2000"/>
              <a:t>힌트: 만들고 나서 모든 경우를 표로 검사해 볼 것.</a:t>
            </a:r>
          </a:p>
          <a:p>
            <a:r>
              <a:rPr sz="2000"/>
              <a:t>→ 다음 장에 예시가 있다!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과제 예시) 이런 식으로!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A가 말했다.</a:t>
            </a:r>
          </a:p>
          <a:p/>
          <a:p>
            <a:r>
              <a:rPr sz="2000"/>
              <a:t>"나는 건달이거나, B는 기사입니다."</a:t>
            </a:r>
          </a:p>
          <a:p/>
          <a:p>
            <a:r>
              <a:rPr sz="2000"/>
              <a:t>이 한 문장으로 A와 B의 정체가</a:t>
            </a:r>
          </a:p>
          <a:p>
            <a:r>
              <a:rPr sz="2000"/>
              <a:t>단 하나로 결정될까?</a:t>
            </a:r>
          </a:p>
          <a:p/>
          <a:p>
            <a:r>
              <a:rPr sz="2000"/>
              <a:t>→ 다음 장에서 '모든 경우 검사'로 확인!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과제 예시) 모든 경우를 표로 검사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진술: "나는 건달이거나, B는 기사입니다."</a:t>
            </a:r>
          </a:p>
          <a:p/>
          <a:p>
            <a:r>
              <a:rPr sz="2000"/>
              <a:t>경우 1) A기사·B기사: 진술 참 → 기사가 참말 ✓ 가능!</a:t>
            </a:r>
          </a:p>
          <a:p>
            <a:r>
              <a:rPr sz="2000"/>
              <a:t>경우 2) A기사·B건달: 진술 거짓 → 기사가 거짓말 ✗</a:t>
            </a:r>
          </a:p>
          <a:p>
            <a:r>
              <a:rPr sz="2000"/>
              <a:t>경우 3) A건달·B기사: 진술 참 → 건달이 참말 ✗</a:t>
            </a:r>
          </a:p>
          <a:p>
            <a:r>
              <a:rPr sz="2000"/>
              <a:t>경우 4) A건달·B건달: 진술 참 → 건달이 참말 ✗</a:t>
            </a:r>
          </a:p>
          <a:p/>
          <a:p>
            <a:r>
              <a:rPr sz="2000"/>
              <a:t>살아남는 경우가 단 하나 → 답: A도 B도 기사!</a:t>
            </a:r>
          </a:p>
          <a:p/>
          <a:p>
            <a:r>
              <a:rPr sz="2000"/>
              <a:t>이렇게 네 경우가 모두 검사되어야 '출제 성공'.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