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[시간 배분] 워밍업 10분 → 과제 발표 5분 → 문제1 15분 → 문제2 토론 35분 → 문제3 15분 → 개념 연결·일지·과제 10분</a:t>
            </a:r>
          </a:p>
          <a:p>
            <a:r>
              <a:t>[오늘의 목표 개념] 부정(드모르간), 경우 나누기의 완전성, 진리표</a:t>
            </a:r>
          </a:p>
          <a:p>
            <a:r>
              <a:t>회상: "천국과 지옥의 문 — 그 마법의 질문이 뭐였지? 왜 거짓말쟁이에게 물어도 통했지?" → '거짓을 두 번 통과시키면 진실' 오늘 업그레이드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흔한 막힘: 4명이라는 고정관념. 발문: "한 사람이 두 역할을 할 수는 없을까?"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흔한 오답: 7개 (10−3 자동 계산).</a:t>
            </a:r>
          </a:p>
          <a:p>
            <a:r>
              <a:t>발문: "켜진 초는 밤새 무슨 일이 일어나지?"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(15분) 핵심 패턴을 학생들이 '발견'하게 유도.</a:t>
            </a:r>
          </a:p>
          <a:p>
            <a:r>
              <a:t>발문: (a)에서 "비가 안 오고 바람도 안 분다"라고 답한 사람? → 비는 오는데 바람만 안 부는 날, 원래 문장과 그 답은 각각 참일까 거짓일까?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메인 토론 (35분). 침묵의 10분 → 토론.</a:t>
            </a:r>
          </a:p>
          <a:p>
            <a:r>
              <a:t>힌트 단계: ① "두 번째 질문이 '마법의 질문'이 되려면, 그 상대는 누구면 안 되지?" ② "1번 질문의 목표는 '기분파 정체 밝히기'가 아니라 '기분파가 아닌 한 명 고르기'"</a:t>
            </a:r>
          </a:p>
          <a:p>
            <a:r>
              <a:t>[흔한 막힘] "A가 기분파면 1번 답이 쓰레기인데 어떻게 괜찮죠?" → 그 경우 B, C 둘 다 안전하므로 어느 쪽을 골라도 성공. 목표를 정확히 하면 최악의 경우조차 유리하게 작동.</a:t>
            </a:r>
          </a:p>
          <a:p>
            <a:r>
              <a:t>발문: "왜 두 겹으로 묻지? 그냥 'B가 기분파입니까?'면 뭐가 무너질까?"</a:t>
            </a:r>
          </a:p>
          <a:p>
            <a:r>
              <a:t>"경우를 빠짐없이: A가 진실가/거짓가/기분파 — 각각 검증했나?"</a:t>
            </a:r>
          </a:p>
          <a:p>
            <a:r>
              <a:t>"질문 1번만으로는 왜 불가능할까?" (정보량 — 6주차 예고)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(15분) 예전 범인 찾기(참말 1명)를 회상시키고, 조건이 복잡해지면 가정 검사보다 '표'가 강력함을 체험시키는 것이 목적.</a:t>
            </a:r>
          </a:p>
          <a:p>
            <a:r>
              <a:t>발문: "참말 조건이 '3명'이었다면 답이 존재할까?" (과제와 연결)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(c) 주의: "모든 학생이 숙제를 안 해왔다"는 부정이 아님을 꼭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(A,B,C,D 순서로 각 진술의 참/거짓.) 학생들이 표를 직접 채우게 한 뒤 이 슬라이드로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(2)를 고른 학생의 설명은 6주차(정보량)에서 다시 소환할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수업 2주차) 세 명의 문지기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워밍업 2문제 + 본 문제 3문제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워밍업 1) 두 아버지와 두 아들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두 명의 아버지와 두 명의 아들이 낚시를 가서</a:t>
            </a:r>
          </a:p>
          <a:p>
            <a:r>
              <a:rPr sz="2000"/>
              <a:t>물고기를 정확히 3마리 잡았다.</a:t>
            </a:r>
          </a:p>
          <a:p/>
          <a:p>
            <a:r>
              <a:rPr sz="2000"/>
              <a:t>그런데 모두가 각자 1마리씩 가져갔다.</a:t>
            </a:r>
          </a:p>
          <a:p/>
          <a:p>
            <a:r>
              <a:rPr sz="2000"/>
              <a:t>어떻게 가능할까?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워밍업 2) 촛불 10개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방 안에 촛불 10개가 켜져 있다.</a:t>
            </a:r>
          </a:p>
          <a:p/>
          <a:p>
            <a:r>
              <a:rPr sz="2000"/>
              <a:t>창문으로 바람이 불어 들어와 3개가 꺼졌다.</a:t>
            </a:r>
          </a:p>
          <a:p>
            <a:r>
              <a:rPr sz="2000"/>
              <a:t>더 이상 꺼진 초는 없었다.</a:t>
            </a:r>
          </a:p>
          <a:p/>
          <a:p>
            <a:r>
              <a:rPr sz="2000"/>
              <a:t>다음 날 아침, 방에 남아 있는 초는 몇 개일까?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1) 부정 만들기 게임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다음 문장들의 '부정'을 만들어라.</a:t>
            </a:r>
          </a:p>
          <a:p>
            <a:r>
              <a:rPr sz="2000"/>
              <a:t>(원래 문장이 거짓일 때 정확히 참이 되는 문장)</a:t>
            </a:r>
          </a:p>
          <a:p/>
          <a:p>
            <a:r>
              <a:rPr sz="2000"/>
              <a:t>(a) "비가 오고 바람이 분다"</a:t>
            </a:r>
          </a:p>
          <a:p>
            <a:r>
              <a:rPr sz="2000"/>
              <a:t>(b) "A와 B는 둘 다 건달이다"  ← 지난주 문제!</a:t>
            </a:r>
          </a:p>
          <a:p>
            <a:r>
              <a:rPr sz="2000"/>
              <a:t>(c) "모든 학생이 숙제를 해왔다"</a:t>
            </a:r>
          </a:p>
          <a:p>
            <a:r>
              <a:rPr sz="2000"/>
              <a:t>(d) "나는 사과 또는 배를 먹었다"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2) 세 번째 문지기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천국과 지옥, 두 개의 문. 이번엔 문지기가 셋!</a:t>
            </a:r>
          </a:p>
          <a:p/>
          <a:p>
            <a:r>
              <a:rPr sz="2000"/>
              <a:t>- 한 명은 항상 진실만 말한다.</a:t>
            </a:r>
          </a:p>
          <a:p>
            <a:r>
              <a:rPr sz="2000"/>
              <a:t>- 한 명은 항상 거짓만 말한다.</a:t>
            </a:r>
          </a:p>
          <a:p>
            <a:r>
              <a:rPr sz="2000"/>
              <a:t>- 한 명은 기분파 — 그때그때 마음대로 답한다.</a:t>
            </a:r>
          </a:p>
          <a:p/>
          <a:p>
            <a:r>
              <a:rPr sz="2000"/>
              <a:t>누가 누구인지 전혀 모른다.</a:t>
            </a:r>
          </a:p>
          <a:p>
            <a:r>
              <a:rPr sz="2000"/>
              <a:t>예/아니오 질문을 딱 2번 할 수 있다.</a:t>
            </a:r>
          </a:p>
          <a:p>
            <a:r>
              <a:rPr sz="2000"/>
              <a:t>(한 번에 한 명에게만, 같은 사람에게 두 번도 가능)</a:t>
            </a:r>
          </a:p>
          <a:p/>
          <a:p>
            <a:r>
              <a:rPr sz="2000"/>
              <a:t>천국으로 가는 문을 확실하게 찾아내라.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3) 범인 찾기 — 참말 2명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용의자 A, B, C, D 중 범인은 한 명.</a:t>
            </a:r>
          </a:p>
          <a:p>
            <a:r>
              <a:rPr sz="2000"/>
              <a:t>이번에는 정확히 2명이 참말, 2명이 거짓말!</a:t>
            </a:r>
          </a:p>
          <a:p/>
          <a:p>
            <a:r>
              <a:rPr sz="2000"/>
              <a:t>A: "범인은 B입니다."</a:t>
            </a:r>
          </a:p>
          <a:p>
            <a:r>
              <a:rPr sz="2000"/>
              <a:t>B: "범인은 D입니다."</a:t>
            </a:r>
          </a:p>
          <a:p>
            <a:r>
              <a:rPr sz="2000"/>
              <a:t>C: "나는 범인이 아닙니다."</a:t>
            </a:r>
          </a:p>
          <a:p>
            <a:r>
              <a:rPr sz="2000"/>
              <a:t>D: "A의 말은 참입니다."</a:t>
            </a:r>
          </a:p>
          <a:p/>
          <a:p>
            <a:r>
              <a:rPr sz="2000"/>
              <a:t>범인은? 참말을 한 두 사람은?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풀이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워밍업 풀이 1) 두 아버지와 두 아들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답: 낚시를 간 사람은 3명.</a:t>
            </a:r>
          </a:p>
          <a:p/>
          <a:p>
            <a:r>
              <a:rPr sz="2000"/>
              <a:t>할아버지 — 아버지 — 아들.</a:t>
            </a:r>
          </a:p>
          <a:p/>
          <a:p>
            <a:r>
              <a:rPr sz="2000"/>
              <a:t>가운데 사람은 '아버지'이면서 동시에 '아들'이다.</a:t>
            </a:r>
          </a:p>
          <a:p>
            <a:r>
              <a:rPr sz="2000"/>
              <a:t>함정: 두 아버지 + 두 아들 = 4명이라는 자동 덧셈.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워밍업 풀이 2) 촛불 10개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답: 3개.</a:t>
            </a:r>
          </a:p>
          <a:p/>
          <a:p>
            <a:r>
              <a:rPr sz="2000"/>
              <a:t>켜진 초 7개는 밤새 다 타서 없어진다.</a:t>
            </a:r>
          </a:p>
          <a:p>
            <a:r>
              <a:rPr sz="2000"/>
              <a:t>꺼진 초 3개만 아침까지 남는다.</a:t>
            </a:r>
          </a:p>
          <a:p/>
          <a:p>
            <a:r>
              <a:rPr sz="2000"/>
              <a:t>함정: 10 − 3 = 7이라는 자동 계산.</a:t>
            </a:r>
          </a:p>
          <a:p>
            <a:r>
              <a:rPr sz="2000"/>
              <a:t>'꺼졌다'는 단어가 '사라졌다'로 둔갑하는 순간!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풀이 1) 부정 만들기 게임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(a) "비가 안 오거나, 바람이 안 분다"</a:t>
            </a:r>
          </a:p>
          <a:p>
            <a:r>
              <a:rPr sz="2000"/>
              <a:t>(b) "A, B 중 적어도 한 명은 기사다" ← 지난주 추론!</a:t>
            </a:r>
          </a:p>
          <a:p>
            <a:r>
              <a:rPr sz="2000"/>
              <a:t>(c) "숙제를 안 해온 학생이 적어도 한 명 있다"</a:t>
            </a:r>
          </a:p>
          <a:p>
            <a:r>
              <a:rPr sz="2000"/>
              <a:t>(d) "사과도 안 먹었고, 배도 안 먹었다"</a:t>
            </a:r>
          </a:p>
          <a:p/>
          <a:p>
            <a:r>
              <a:rPr sz="2000"/>
              <a:t>발견한 패턴:</a:t>
            </a:r>
          </a:p>
          <a:p>
            <a:r>
              <a:rPr sz="2000"/>
              <a:t>'그리고' ↔ '또는' 이 서로 뒤집힌다</a:t>
            </a:r>
          </a:p>
          <a:p>
            <a:r>
              <a:rPr sz="2000"/>
              <a:t>'모든'의 부정은 '적어도 하나는 아니다'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풀이 2-1) 세 번째 문지기 — 1번 질문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문지기 A에게 묻는다.</a:t>
            </a:r>
          </a:p>
          <a:p/>
          <a:p>
            <a:r>
              <a:rPr sz="2000"/>
              <a:t>"제가 당신에게 'B가 기분파입니까?'라고 묻는다면,</a:t>
            </a:r>
          </a:p>
          <a:p>
            <a:r>
              <a:rPr sz="2000"/>
              <a:t> 당신은 '예'라고 답하시겠습니까?"</a:t>
            </a:r>
          </a:p>
          <a:p/>
          <a:p>
            <a:r>
              <a:rPr sz="2000"/>
              <a:t>- A가 진실가: 사실 그대로 답한다.</a:t>
            </a:r>
          </a:p>
          <a:p>
            <a:r>
              <a:rPr sz="2000"/>
              <a:t>- A가 거짓가: 거짓에 대한 거짓 = 진실!</a:t>
            </a:r>
          </a:p>
          <a:p>
            <a:r>
              <a:rPr sz="2000"/>
              <a:t>  (지난번 '마법의 질문'과 같은 원리)</a:t>
            </a:r>
          </a:p>
          <a:p/>
          <a:p>
            <a:r>
              <a:rPr sz="2000"/>
              <a:t>→ A가 기분파만 아니면:</a:t>
            </a:r>
          </a:p>
          <a:p>
            <a:r>
              <a:rPr sz="2000"/>
              <a:t>  "예" = B가 기분파  /  "아니오" = B는 기분파 아님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풀이 2-2) 세 번째 문지기 — 판정과 2번 질문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판정 규칙:</a:t>
            </a:r>
          </a:p>
          <a:p>
            <a:r>
              <a:rPr sz="2000"/>
              <a:t>- "예"   → C에게 2번 질문</a:t>
            </a:r>
          </a:p>
          <a:p>
            <a:r>
              <a:rPr sz="2000"/>
              <a:t>- "아니오" → B에게 2번 질문</a:t>
            </a:r>
          </a:p>
          <a:p/>
          <a:p>
            <a:r>
              <a:rPr sz="2000"/>
              <a:t>A가 기분파였다면? 답은 엉터리지만,</a:t>
            </a:r>
          </a:p>
          <a:p>
            <a:r>
              <a:rPr sz="2000"/>
              <a:t>B와 C는 둘 다 기분파가 아니므로 어느 쪽이든 안전!</a:t>
            </a:r>
          </a:p>
          <a:p>
            <a:r>
              <a:rPr sz="2000"/>
              <a:t>→ 모든 경우에 실패하지 않는 전략.</a:t>
            </a:r>
          </a:p>
          <a:p/>
          <a:p>
            <a:r>
              <a:rPr sz="2000"/>
              <a:t>2번 질문 (기분파 아닌 문지기에게):</a:t>
            </a:r>
          </a:p>
          <a:p>
            <a:r>
              <a:rPr sz="2000"/>
              <a:t>"제가 '왼쪽 문이 천국 문입니까?'라고 묻는다면,</a:t>
            </a:r>
          </a:p>
          <a:p>
            <a:r>
              <a:rPr sz="2000"/>
              <a:t> '예'라고 답하시겠습니까?"</a:t>
            </a:r>
          </a:p>
          <a:p>
            <a:r>
              <a:rPr sz="2000"/>
              <a:t>→ "예"면 왼쪽, "아니오"면 오른쪽.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풀이 3) 범인 찾기 — 참말 2명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범인을 가정하고 표로 전 경우 검사:</a:t>
            </a:r>
          </a:p>
          <a:p/>
          <a:p>
            <a:r>
              <a:rPr sz="2000"/>
              <a:t>범인=A:  거짓·거짓·참·거짓  → 참 1명</a:t>
            </a:r>
          </a:p>
          <a:p>
            <a:r>
              <a:rPr sz="2000"/>
              <a:t>범인=B:  참·거짓·참·참    → 참 3명</a:t>
            </a:r>
          </a:p>
          <a:p>
            <a:r>
              <a:rPr sz="2000"/>
              <a:t>범인=C:  거짓·거짓·거짓·거짓 → 참 0명</a:t>
            </a:r>
          </a:p>
          <a:p>
            <a:r>
              <a:rPr sz="2000"/>
              <a:t>범인=D:  거짓·참·참·거짓   → 참 2명 ✓</a:t>
            </a:r>
          </a:p>
          <a:p/>
          <a:p>
            <a:r>
              <a:rPr sz="2000"/>
              <a:t>답: 범인은 D, 참말을 한 사람은 B와 C.</a:t>
            </a:r>
          </a:p>
          <a:p/>
          <a:p>
            <a:r>
              <a:rPr sz="2000"/>
              <a:t>조건이 복잡할수록, 가정 검사보다 표가 강력하다!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개념 연결) 드모르간과 진리표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오늘 한 일:</a:t>
            </a:r>
          </a:p>
          <a:p/>
          <a:p>
            <a:r>
              <a:rPr sz="2000"/>
              <a:t>1) 부정을 정확히 만들기</a:t>
            </a:r>
          </a:p>
          <a:p>
            <a:r>
              <a:rPr sz="2000"/>
              <a:t>   '그리고/또는'이 뒤집히는 규칙 = 드모르간의 법칙</a:t>
            </a:r>
          </a:p>
          <a:p/>
          <a:p>
            <a:r>
              <a:rPr sz="2000"/>
              <a:t>2) 모든 경우를 표로 빠짐없이 검사 = 진리표</a:t>
            </a:r>
          </a:p>
          <a:p>
            <a:r>
              <a:rPr sz="2000"/>
              <a:t>   컴퓨터의 모든 회로가 이 진리표 위에서 동작한다.</a:t>
            </a:r>
          </a:p>
          <a:p>
            <a:r>
              <a:rPr sz="2000"/>
              <a:t>   스마트폰 안에서 1초에 수십억 번,</a:t>
            </a:r>
          </a:p>
          <a:p>
            <a:r>
              <a:rPr sz="2000"/>
              <a:t>   오늘 너희가 한 일이 일어나고 있다.</a:t>
            </a:r>
          </a:p>
          <a:p/>
          <a:p>
            <a:r>
              <a:rPr sz="2000"/>
              <a:t>3) '모든 경우에 작동하는 전략' — 운에 기대지 않는 풀이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확장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둘 중 하나 선택:</a:t>
            </a:r>
          </a:p>
          <a:p/>
          <a:p>
            <a:r>
              <a:rPr sz="2000"/>
              <a:t>(1) 용의자 4명, '참말 정확히 3명' 조건으로</a:t>
            </a:r>
          </a:p>
          <a:p>
            <a:r>
              <a:rPr sz="2000"/>
              <a:t>    범인이 유일하게 결정되는 문제 만들기</a:t>
            </a:r>
          </a:p>
          <a:p>
            <a:r>
              <a:rPr sz="2000"/>
              <a:t>    (표로 유일성 검증 필수!)</a:t>
            </a:r>
          </a:p>
          <a:p/>
          <a:p>
            <a:r>
              <a:rPr sz="2000"/>
              <a:t>(2) 세 번째 문지기 문제에서 질문이 딱 1번뿐이라면</a:t>
            </a:r>
          </a:p>
          <a:p>
            <a:r>
              <a:rPr sz="2000"/>
              <a:t>    왜 확실한 방법이 없는지 설명해 오기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